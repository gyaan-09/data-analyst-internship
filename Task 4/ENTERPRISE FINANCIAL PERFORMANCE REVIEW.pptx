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7"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2687363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3736948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1808882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372108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B99587-0FA2-488A-8767-C0536B50552F}" type="datetimeFigureOut">
              <a:rPr lang="en-IN" smtClean="0"/>
              <a:t>04-06-2026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4235315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B99587-0FA2-488A-8767-C0536B50552F}" type="datetimeFigureOut">
              <a:rPr lang="en-IN" smtClean="0"/>
              <a:t>04-06-2026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165767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B99587-0FA2-488A-8767-C0536B50552F}" type="datetimeFigureOut">
              <a:rPr lang="en-IN" smtClean="0"/>
              <a:t>04-06-2026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2702121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2357191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3197187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385017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CBF3444-0436-43CF-AC02-9655A8986435}"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39422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1128435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BF3444-0436-43CF-AC02-9655A8986435}"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36141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9B99587-0FA2-488A-8767-C0536B50552F}"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1382729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783283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99587-0FA2-488A-8767-C0536B50552F}"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CBF3444-0436-43CF-AC02-9655A8986435}" type="slidenum">
              <a:rPr lang="en-IN" smtClean="0"/>
              <a:t>‹#›</a:t>
            </a:fld>
            <a:endParaRPr lang="en-IN"/>
          </a:p>
        </p:txBody>
      </p:sp>
    </p:spTree>
    <p:extLst>
      <p:ext uri="{BB962C8B-B14F-4D97-AF65-F5344CB8AC3E}">
        <p14:creationId xmlns:p14="http://schemas.microsoft.com/office/powerpoint/2010/main" val="3274391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9B99587-0FA2-488A-8767-C0536B50552F}" type="datetimeFigureOut">
              <a:rPr lang="en-IN" smtClean="0"/>
              <a:t>04-06-2026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CBF3444-0436-43CF-AC02-9655A8986435}" type="slidenum">
              <a:rPr lang="en-IN" smtClean="0"/>
              <a:t>‹#›</a:t>
            </a:fld>
            <a:endParaRPr lang="en-IN"/>
          </a:p>
        </p:txBody>
      </p:sp>
    </p:spTree>
    <p:extLst>
      <p:ext uri="{BB962C8B-B14F-4D97-AF65-F5344CB8AC3E}">
        <p14:creationId xmlns:p14="http://schemas.microsoft.com/office/powerpoint/2010/main" val="32289409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9858-9E6F-3BB3-DA58-672E3F8329CA}"/>
              </a:ext>
            </a:extLst>
          </p:cNvPr>
          <p:cNvSpPr>
            <a:spLocks noGrp="1"/>
          </p:cNvSpPr>
          <p:nvPr>
            <p:ph type="ctrTitle"/>
          </p:nvPr>
        </p:nvSpPr>
        <p:spPr>
          <a:xfrm>
            <a:off x="2674054" y="497264"/>
            <a:ext cx="8915399" cy="2262781"/>
          </a:xfrm>
        </p:spPr>
        <p:txBody>
          <a:bodyPr>
            <a:normAutofit/>
          </a:bodyPr>
          <a:lstStyle/>
          <a:p>
            <a:r>
              <a:rPr lang="en-IN" sz="4400" dirty="0"/>
              <a:t>ENTERPRISE FINANCIAL PERFORMANCE REVIEW</a:t>
            </a:r>
          </a:p>
        </p:txBody>
      </p:sp>
      <p:sp>
        <p:nvSpPr>
          <p:cNvPr id="3" name="Subtitle 2">
            <a:extLst>
              <a:ext uri="{FF2B5EF4-FFF2-40B4-BE49-F238E27FC236}">
                <a16:creationId xmlns:a16="http://schemas.microsoft.com/office/drawing/2014/main" id="{EDF7CE8C-FDCE-713C-3287-C9C257DC84E9}"/>
              </a:ext>
            </a:extLst>
          </p:cNvPr>
          <p:cNvSpPr>
            <a:spLocks noGrp="1"/>
          </p:cNvSpPr>
          <p:nvPr>
            <p:ph type="subTitle" idx="1"/>
          </p:nvPr>
        </p:nvSpPr>
        <p:spPr>
          <a:xfrm>
            <a:off x="2768323" y="2788323"/>
            <a:ext cx="8915399" cy="1126283"/>
          </a:xfrm>
        </p:spPr>
        <p:txBody>
          <a:bodyPr>
            <a:normAutofit lnSpcReduction="10000"/>
          </a:bodyPr>
          <a:lstStyle/>
          <a:p>
            <a:r>
              <a:rPr lang="en-US" dirty="0"/>
              <a:t>GLOBAL SALES</a:t>
            </a:r>
          </a:p>
          <a:p>
            <a:r>
              <a:rPr lang="en-US" dirty="0"/>
              <a:t>MARGIN ANALYSIS</a:t>
            </a:r>
          </a:p>
          <a:p>
            <a:r>
              <a:rPr lang="en-US" dirty="0"/>
              <a:t>STRATEGIC OUTLOOK</a:t>
            </a:r>
            <a:endParaRPr lang="en-IN" dirty="0"/>
          </a:p>
        </p:txBody>
      </p:sp>
    </p:spTree>
    <p:extLst>
      <p:ext uri="{BB962C8B-B14F-4D97-AF65-F5344CB8AC3E}">
        <p14:creationId xmlns:p14="http://schemas.microsoft.com/office/powerpoint/2010/main" val="3565627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6D03-D03E-8EAA-3310-559CFFA0030E}"/>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C47DEDE2-F5CA-4890-8F79-DACD0D8DEDA2}"/>
              </a:ext>
            </a:extLst>
          </p:cNvPr>
          <p:cNvSpPr>
            <a:spLocks noGrp="1"/>
          </p:cNvSpPr>
          <p:nvPr>
            <p:ph idx="1"/>
          </p:nvPr>
        </p:nvSpPr>
        <p:spPr/>
        <p:txBody>
          <a:bodyPr>
            <a:normAutofit/>
          </a:bodyPr>
          <a:lstStyle/>
          <a:p>
            <a:pPr marL="0" indent="0">
              <a:buNone/>
            </a:pPr>
            <a:r>
              <a:rPr lang="en-US" sz="2800" dirty="0"/>
              <a:t>Despite market fluctuations, our blended gross margin remained highly stable, which proves our pricing power in the market is solid. Geographically, North America continues to be our heavy hitter for pure volume, while EMEA is actually yielding our highest margin retention.</a:t>
            </a:r>
            <a:endParaRPr lang="en-IN" sz="2800" dirty="0"/>
          </a:p>
        </p:txBody>
      </p:sp>
      <p:pic>
        <p:nvPicPr>
          <p:cNvPr id="5" name="Picture 4">
            <a:extLst>
              <a:ext uri="{FF2B5EF4-FFF2-40B4-BE49-F238E27FC236}">
                <a16:creationId xmlns:a16="http://schemas.microsoft.com/office/drawing/2014/main" id="{6210571A-B9C5-7666-0702-EB152B02BF8A}"/>
              </a:ext>
            </a:extLst>
          </p:cNvPr>
          <p:cNvPicPr>
            <a:picLocks noChangeAspect="1"/>
          </p:cNvPicPr>
          <p:nvPr/>
        </p:nvPicPr>
        <p:blipFill>
          <a:blip r:embed="rId2"/>
          <a:stretch>
            <a:fillRect/>
          </a:stretch>
        </p:blipFill>
        <p:spPr>
          <a:xfrm>
            <a:off x="2288127" y="5085714"/>
            <a:ext cx="8916644" cy="1362265"/>
          </a:xfrm>
          <a:prstGeom prst="rect">
            <a:avLst/>
          </a:prstGeom>
        </p:spPr>
      </p:pic>
    </p:spTree>
    <p:extLst>
      <p:ext uri="{BB962C8B-B14F-4D97-AF65-F5344CB8AC3E}">
        <p14:creationId xmlns:p14="http://schemas.microsoft.com/office/powerpoint/2010/main" val="209713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9CF4A-BB2D-F8CC-BCBC-D1812A8AE4FB}"/>
              </a:ext>
            </a:extLst>
          </p:cNvPr>
          <p:cNvSpPr>
            <a:spLocks noGrp="1"/>
          </p:cNvSpPr>
          <p:nvPr>
            <p:ph type="title"/>
          </p:nvPr>
        </p:nvSpPr>
        <p:spPr/>
        <p:txBody>
          <a:bodyPr/>
          <a:lstStyle/>
          <a:p>
            <a:r>
              <a:rPr lang="en-IN" dirty="0"/>
              <a:t>CONSISTENT QUARTER-OVER-QUARTER GROWTH</a:t>
            </a:r>
          </a:p>
        </p:txBody>
      </p:sp>
      <p:pic>
        <p:nvPicPr>
          <p:cNvPr id="6" name="Content Placeholder 5">
            <a:extLst>
              <a:ext uri="{FF2B5EF4-FFF2-40B4-BE49-F238E27FC236}">
                <a16:creationId xmlns:a16="http://schemas.microsoft.com/office/drawing/2014/main" id="{9CAB7BD3-CC89-F73E-B49A-7F8AD24AE387}"/>
              </a:ext>
            </a:extLst>
          </p:cNvPr>
          <p:cNvPicPr>
            <a:picLocks noGrp="1" noChangeAspect="1"/>
          </p:cNvPicPr>
          <p:nvPr>
            <p:ph idx="1"/>
          </p:nvPr>
        </p:nvPicPr>
        <p:blipFill>
          <a:blip r:embed="rId2"/>
          <a:stretch>
            <a:fillRect/>
          </a:stretch>
        </p:blipFill>
        <p:spPr>
          <a:xfrm>
            <a:off x="6323013" y="403123"/>
            <a:ext cx="5544522" cy="5506064"/>
          </a:xfrm>
          <a:prstGeom prst="rect">
            <a:avLst/>
          </a:prstGeom>
        </p:spPr>
      </p:pic>
      <p:sp>
        <p:nvSpPr>
          <p:cNvPr id="4" name="Text Placeholder 3">
            <a:extLst>
              <a:ext uri="{FF2B5EF4-FFF2-40B4-BE49-F238E27FC236}">
                <a16:creationId xmlns:a16="http://schemas.microsoft.com/office/drawing/2014/main" id="{4DE9772E-1778-E136-EFE0-FFAEE8FD1D55}"/>
              </a:ext>
            </a:extLst>
          </p:cNvPr>
          <p:cNvSpPr>
            <a:spLocks noGrp="1"/>
          </p:cNvSpPr>
          <p:nvPr>
            <p:ph type="body" sz="half" idx="2"/>
          </p:nvPr>
        </p:nvSpPr>
        <p:spPr/>
        <p:txBody>
          <a:bodyPr>
            <a:normAutofit/>
          </a:bodyPr>
          <a:lstStyle/>
          <a:p>
            <a:r>
              <a:rPr lang="en-US" sz="1800" dirty="0"/>
              <a:t>Total revenue reached targeted million-dollar milestones, underpinned by strong performance in the Enterprise Software sector and resilient blended profit margins. Despite broader market fluctuations, pricing power remains stable, ensuring consistent profitability alongside sustainable top-line growth.</a:t>
            </a:r>
            <a:endParaRPr lang="en-IN" sz="1800" dirty="0"/>
          </a:p>
        </p:txBody>
      </p:sp>
    </p:spTree>
    <p:extLst>
      <p:ext uri="{BB962C8B-B14F-4D97-AF65-F5344CB8AC3E}">
        <p14:creationId xmlns:p14="http://schemas.microsoft.com/office/powerpoint/2010/main" val="314963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7ECD-EF66-D7CC-AA85-060F73C20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C5EA5-0276-C78A-B116-FFFD0DC16A10}"/>
              </a:ext>
            </a:extLst>
          </p:cNvPr>
          <p:cNvSpPr>
            <a:spLocks noGrp="1"/>
          </p:cNvSpPr>
          <p:nvPr>
            <p:ph type="title"/>
          </p:nvPr>
        </p:nvSpPr>
        <p:spPr/>
        <p:txBody>
          <a:bodyPr/>
          <a:lstStyle/>
          <a:p>
            <a:r>
              <a:rPr lang="en-IN" dirty="0"/>
              <a:t>REVENUE &amp; MARGIN TRAJECTORY</a:t>
            </a:r>
          </a:p>
        </p:txBody>
      </p:sp>
      <p:sp>
        <p:nvSpPr>
          <p:cNvPr id="4" name="Text Placeholder 3">
            <a:extLst>
              <a:ext uri="{FF2B5EF4-FFF2-40B4-BE49-F238E27FC236}">
                <a16:creationId xmlns:a16="http://schemas.microsoft.com/office/drawing/2014/main" id="{5A158523-59D5-89CB-2B1C-122C8716B567}"/>
              </a:ext>
            </a:extLst>
          </p:cNvPr>
          <p:cNvSpPr>
            <a:spLocks noGrp="1"/>
          </p:cNvSpPr>
          <p:nvPr>
            <p:ph type="body" sz="half" idx="2"/>
          </p:nvPr>
        </p:nvSpPr>
        <p:spPr/>
        <p:txBody>
          <a:bodyPr>
            <a:normAutofit/>
          </a:bodyPr>
          <a:lstStyle/>
          <a:p>
            <a:r>
              <a:rPr lang="en-US" sz="1800" dirty="0"/>
              <a:t>Quarter-over-quarter growth demonstrates consistent upward momentum, with peak volume achieving record highs without sacrificing core profitability. Scatter plot analytics confirm that high-value orders maintain target margins, validating the strategy to scale aggressively without relying on margin-eroding discounts</a:t>
            </a:r>
            <a:endParaRPr lang="en-IN" sz="1800" dirty="0"/>
          </a:p>
        </p:txBody>
      </p:sp>
      <p:sp>
        <p:nvSpPr>
          <p:cNvPr id="8" name="Content Placeholder 7">
            <a:extLst>
              <a:ext uri="{FF2B5EF4-FFF2-40B4-BE49-F238E27FC236}">
                <a16:creationId xmlns:a16="http://schemas.microsoft.com/office/drawing/2014/main" id="{020F4E25-5AA2-DBF5-4697-2E40C89D15D9}"/>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id="{971365E6-4007-AEE2-3D6B-71A682E85954}"/>
              </a:ext>
            </a:extLst>
          </p:cNvPr>
          <p:cNvPicPr>
            <a:picLocks noChangeAspect="1"/>
          </p:cNvPicPr>
          <p:nvPr/>
        </p:nvPicPr>
        <p:blipFill>
          <a:blip r:embed="rId2"/>
          <a:stretch>
            <a:fillRect/>
          </a:stretch>
        </p:blipFill>
        <p:spPr>
          <a:xfrm>
            <a:off x="6282813" y="374291"/>
            <a:ext cx="5250426" cy="6109417"/>
          </a:xfrm>
          <a:prstGeom prst="rect">
            <a:avLst/>
          </a:prstGeom>
        </p:spPr>
      </p:pic>
    </p:spTree>
    <p:extLst>
      <p:ext uri="{BB962C8B-B14F-4D97-AF65-F5344CB8AC3E}">
        <p14:creationId xmlns:p14="http://schemas.microsoft.com/office/powerpoint/2010/main" val="4179454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238B-0759-574D-0E83-8C3C2C8A4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5C354-94C4-4083-6282-A9D8DD98CBBE}"/>
              </a:ext>
            </a:extLst>
          </p:cNvPr>
          <p:cNvSpPr>
            <a:spLocks noGrp="1"/>
          </p:cNvSpPr>
          <p:nvPr>
            <p:ph type="title"/>
          </p:nvPr>
        </p:nvSpPr>
        <p:spPr/>
        <p:txBody>
          <a:bodyPr/>
          <a:lstStyle/>
          <a:p>
            <a:r>
              <a:rPr lang="en-IN" dirty="0"/>
              <a:t>REGIONAL MARKET EXTRACTION</a:t>
            </a:r>
          </a:p>
        </p:txBody>
      </p:sp>
      <p:sp>
        <p:nvSpPr>
          <p:cNvPr id="4" name="Text Placeholder 3">
            <a:extLst>
              <a:ext uri="{FF2B5EF4-FFF2-40B4-BE49-F238E27FC236}">
                <a16:creationId xmlns:a16="http://schemas.microsoft.com/office/drawing/2014/main" id="{7FF2EF1F-E9C1-729E-1E6D-34B34EC2BB18}"/>
              </a:ext>
            </a:extLst>
          </p:cNvPr>
          <p:cNvSpPr>
            <a:spLocks noGrp="1"/>
          </p:cNvSpPr>
          <p:nvPr>
            <p:ph type="body" sz="half" idx="2"/>
          </p:nvPr>
        </p:nvSpPr>
        <p:spPr/>
        <p:txBody>
          <a:bodyPr>
            <a:normAutofit/>
          </a:bodyPr>
          <a:lstStyle/>
          <a:p>
            <a:r>
              <a:rPr lang="en-US" sz="1800" dirty="0"/>
              <a:t>North America commands the highest overall sales volume through optimized Direct Sales channels, while EMEA delivers the highest margin retention. Conversely, LATAM and APAC exhibit heavy reliance on Partner Networks, identifying these regions as prime targets for channel-driven expansion and future market share capture.</a:t>
            </a:r>
            <a:endParaRPr lang="en-IN" sz="1800" dirty="0"/>
          </a:p>
        </p:txBody>
      </p:sp>
      <p:pic>
        <p:nvPicPr>
          <p:cNvPr id="5" name="Content Placeholder 4">
            <a:extLst>
              <a:ext uri="{FF2B5EF4-FFF2-40B4-BE49-F238E27FC236}">
                <a16:creationId xmlns:a16="http://schemas.microsoft.com/office/drawing/2014/main" id="{02FF1F84-161C-9748-11AA-F5FD757F67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55703" y="810705"/>
            <a:ext cx="5740924" cy="4854803"/>
          </a:xfrm>
        </p:spPr>
      </p:pic>
    </p:spTree>
    <p:extLst>
      <p:ext uri="{BB962C8B-B14F-4D97-AF65-F5344CB8AC3E}">
        <p14:creationId xmlns:p14="http://schemas.microsoft.com/office/powerpoint/2010/main" val="368472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64136-4A9F-A81C-B2A7-064F50A81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37A0C-C04D-1D1F-20B9-8CE3547ACC71}"/>
              </a:ext>
            </a:extLst>
          </p:cNvPr>
          <p:cNvSpPr>
            <a:spLocks noGrp="1"/>
          </p:cNvSpPr>
          <p:nvPr>
            <p:ph type="title"/>
          </p:nvPr>
        </p:nvSpPr>
        <p:spPr/>
        <p:txBody>
          <a:bodyPr/>
          <a:lstStyle/>
          <a:p>
            <a:r>
              <a:rPr lang="en-IN" dirty="0"/>
              <a:t>PRODUCT &amp; SEGMENT STRATEGY</a:t>
            </a:r>
          </a:p>
        </p:txBody>
      </p:sp>
      <p:sp>
        <p:nvSpPr>
          <p:cNvPr id="4" name="Text Placeholder 3">
            <a:extLst>
              <a:ext uri="{FF2B5EF4-FFF2-40B4-BE49-F238E27FC236}">
                <a16:creationId xmlns:a16="http://schemas.microsoft.com/office/drawing/2014/main" id="{3307626B-6BD5-0820-DCF0-731CD5E78944}"/>
              </a:ext>
            </a:extLst>
          </p:cNvPr>
          <p:cNvSpPr>
            <a:spLocks noGrp="1"/>
          </p:cNvSpPr>
          <p:nvPr>
            <p:ph type="body" sz="half" idx="2"/>
          </p:nvPr>
        </p:nvSpPr>
        <p:spPr/>
        <p:txBody>
          <a:bodyPr>
            <a:normAutofit/>
          </a:bodyPr>
          <a:lstStyle/>
          <a:p>
            <a:r>
              <a:rPr lang="en-US" sz="1800" dirty="0"/>
              <a:t>Enterprise Software remains the primary profit engine, dominating the B2B Enterprise segment and securing the bulk of high-margin returns. Simultaneously, time-series data reveals a structural shift as legacy Server Hardware plateaus while Cloud Services rapidly capture market share, reflecting a broader customer migration toward digital infrastructure.</a:t>
            </a:r>
            <a:endParaRPr lang="en-IN" sz="1800" dirty="0"/>
          </a:p>
        </p:txBody>
      </p:sp>
      <p:pic>
        <p:nvPicPr>
          <p:cNvPr id="5" name="Content Placeholder 4">
            <a:extLst>
              <a:ext uri="{FF2B5EF4-FFF2-40B4-BE49-F238E27FC236}">
                <a16:creationId xmlns:a16="http://schemas.microsoft.com/office/drawing/2014/main" id="{E90C085E-C61E-64FB-99C6-FCBD7976731A}"/>
              </a:ext>
            </a:extLst>
          </p:cNvPr>
          <p:cNvPicPr>
            <a:picLocks noGrp="1" noChangeAspect="1"/>
          </p:cNvPicPr>
          <p:nvPr>
            <p:ph idx="1"/>
          </p:nvPr>
        </p:nvPicPr>
        <p:blipFill>
          <a:blip r:embed="rId2"/>
          <a:stretch>
            <a:fillRect/>
          </a:stretch>
        </p:blipFill>
        <p:spPr>
          <a:xfrm>
            <a:off x="6323013" y="942680"/>
            <a:ext cx="5181600" cy="4637988"/>
          </a:xfrm>
          <a:prstGeom prst="rect">
            <a:avLst/>
          </a:prstGeom>
        </p:spPr>
      </p:pic>
    </p:spTree>
    <p:extLst>
      <p:ext uri="{BB962C8B-B14F-4D97-AF65-F5344CB8AC3E}">
        <p14:creationId xmlns:p14="http://schemas.microsoft.com/office/powerpoint/2010/main" val="18040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23BE4-0AD3-A93B-2554-61A987728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E61C1-EDAD-C492-9542-D191A8830408}"/>
              </a:ext>
            </a:extLst>
          </p:cNvPr>
          <p:cNvSpPr>
            <a:spLocks noGrp="1"/>
          </p:cNvSpPr>
          <p:nvPr>
            <p:ph type="title"/>
          </p:nvPr>
        </p:nvSpPr>
        <p:spPr/>
        <p:txBody>
          <a:bodyPr/>
          <a:lstStyle/>
          <a:p>
            <a:r>
              <a:rPr lang="en-IN" dirty="0"/>
              <a:t>STRATEGIC RECOMMENDATIONS</a:t>
            </a:r>
          </a:p>
        </p:txBody>
      </p:sp>
      <p:sp>
        <p:nvSpPr>
          <p:cNvPr id="4" name="Text Placeholder 3">
            <a:extLst>
              <a:ext uri="{FF2B5EF4-FFF2-40B4-BE49-F238E27FC236}">
                <a16:creationId xmlns:a16="http://schemas.microsoft.com/office/drawing/2014/main" id="{660842E3-17EC-92A3-D879-BACD7C89ED45}"/>
              </a:ext>
            </a:extLst>
          </p:cNvPr>
          <p:cNvSpPr>
            <a:spLocks noGrp="1"/>
          </p:cNvSpPr>
          <p:nvPr>
            <p:ph type="body" sz="half" idx="2"/>
          </p:nvPr>
        </p:nvSpPr>
        <p:spPr/>
        <p:txBody>
          <a:bodyPr>
            <a:normAutofit lnSpcReduction="10000"/>
          </a:bodyPr>
          <a:lstStyle/>
          <a:p>
            <a:r>
              <a:rPr lang="en-US" sz="1800" dirty="0"/>
              <a:t>Next quarter’s growth requires aggressively expanding the Partner Network in APAC and LATAM to accelerate market penetration. Additionally, bundling high-margin Cloud Services with legacy Server Hardware will elevate the blended margin profile, while focused marketing and success resources must prioritize the retention of top-tier B2B Enterprise clients to maximize long-term lifetime value.</a:t>
            </a:r>
          </a:p>
          <a:p>
            <a:endParaRPr lang="en-IN" sz="1800" dirty="0"/>
          </a:p>
        </p:txBody>
      </p:sp>
      <p:pic>
        <p:nvPicPr>
          <p:cNvPr id="8" name="Content Placeholder 7">
            <a:extLst>
              <a:ext uri="{FF2B5EF4-FFF2-40B4-BE49-F238E27FC236}">
                <a16:creationId xmlns:a16="http://schemas.microsoft.com/office/drawing/2014/main" id="{B90CFF6A-9EBD-F35E-8109-560F285B0A7D}"/>
              </a:ext>
            </a:extLst>
          </p:cNvPr>
          <p:cNvPicPr>
            <a:picLocks noGrp="1" noChangeAspect="1"/>
          </p:cNvPicPr>
          <p:nvPr>
            <p:ph idx="1"/>
          </p:nvPr>
        </p:nvPicPr>
        <p:blipFill>
          <a:blip r:embed="rId2"/>
          <a:stretch>
            <a:fillRect/>
          </a:stretch>
        </p:blipFill>
        <p:spPr>
          <a:xfrm>
            <a:off x="6323013" y="886119"/>
            <a:ext cx="5181600" cy="5194169"/>
          </a:xfrm>
          <a:prstGeom prst="rect">
            <a:avLst/>
          </a:prstGeom>
        </p:spPr>
      </p:pic>
    </p:spTree>
    <p:extLst>
      <p:ext uri="{BB962C8B-B14F-4D97-AF65-F5344CB8AC3E}">
        <p14:creationId xmlns:p14="http://schemas.microsoft.com/office/powerpoint/2010/main" val="42898367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TotalTime>
  <Words>310</Words>
  <Application>Microsoft Office PowerPoint</Application>
  <PresentationFormat>Widescreen</PresentationFormat>
  <Paragraphs>16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Wisp</vt:lpstr>
      <vt:lpstr>ENTERPRISE FINANCIAL PERFORMANCE REVIEW</vt:lpstr>
      <vt:lpstr>INTRODUCTION</vt:lpstr>
      <vt:lpstr>CONSISTENT QUARTER-OVER-QUARTER GROWTH</vt:lpstr>
      <vt:lpstr>REVENUE &amp; MARGIN TRAJECTORY</vt:lpstr>
      <vt:lpstr>REGIONAL MARKET EXTRACTION</vt:lpstr>
      <vt:lpstr>PRODUCT &amp; SEGMENT STRATEGY</vt:lpstr>
      <vt:lpstr>STRATEGIC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GYAAN</dc:creator>
  <cp:lastModifiedBy>GYAAN</cp:lastModifiedBy>
  <cp:revision>2</cp:revision>
  <dcterms:created xsi:type="dcterms:W3CDTF">2026-06-04T11:05:45Z</dcterms:created>
  <dcterms:modified xsi:type="dcterms:W3CDTF">2026-06-04T11:57:28Z</dcterms:modified>
</cp:coreProperties>
</file>